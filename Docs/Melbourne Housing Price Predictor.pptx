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lus Jakarta Sans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2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038725"/>
            <a:ext cx="3505200" cy="1285875"/>
          </a:xfrm>
          <a:prstGeom prst="roundRect">
            <a:avLst>
              <a:gd name="adj" fmla="val 8888"/>
            </a:avLst>
          </a:prstGeom>
          <a:solidFill>
            <a:srgbClr val="1B2538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5038725"/>
            <a:ext cx="3505200" cy="1285875"/>
          </a:xfrm>
          <a:prstGeom prst="roundRect">
            <a:avLst>
              <a:gd name="adj" fmla="val 8888"/>
            </a:avLst>
          </a:prstGeom>
          <a:solidFill>
            <a:srgbClr val="1B2538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5038725"/>
            <a:ext cx="3505200" cy="1285875"/>
          </a:xfrm>
          <a:prstGeom prst="roundRect">
            <a:avLst>
              <a:gd name="adj" fmla="val 8888"/>
            </a:avLst>
          </a:prstGeom>
          <a:solidFill>
            <a:srgbClr val="1B2538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33400"/>
            <a:ext cx="2209800" cy="304800"/>
          </a:xfrm>
          <a:prstGeom prst="roundRect">
            <a:avLst>
              <a:gd name="adj" fmla="val 50000"/>
            </a:avLst>
          </a:prstGeom>
          <a:solidFill>
            <a:srgbClr val="162749"/>
          </a:solidFill>
          <a:ln w="9525">
            <a:solidFill>
              <a:srgbClr val="1C3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533400"/>
            <a:ext cx="3048000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925" y="542925"/>
            <a:ext cx="3028950" cy="2076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19125"/>
            <a:ext cx="1714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50" y="590550"/>
            <a:ext cx="17526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Plus Jakarta Sans"/>
              </a:rPr>
              <a:t>Mini-Project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52500"/>
            <a:ext cx="6300787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Melbourne Housing</a:t>
            </a:r>
            <a:r>
              <a:t>
</a:t>
            </a:r>
            <a:r>
              <a:rPr sz="3600" b="1" i="0" u="none">
                <a:solidFill>
                  <a:srgbClr val="FFFFFF"/>
                </a:solidFill>
                <a:latin typeface="Space Grotesk"/>
              </a:rPr>
              <a:t> Price 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118121"/>
            <a:ext cx="6000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Plus Jakarta Sans"/>
              </a:rPr>
              <a:t>Predictive Machine Learning &amp; Qwen LLM Integration for Real Estate 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5238750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GROUP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5467350"/>
            <a:ext cx="32004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Kiavash Montazeri</a:t>
            </a:r>
            <a:r>
              <a:t>
</a:t>
            </a:r>
            <a:r>
              <a:rPr sz="1350" b="1" i="0" u="none">
                <a:solidFill>
                  <a:srgbClr val="F1F5F9"/>
                </a:solidFill>
                <a:latin typeface="Plus Jakarta Sans"/>
              </a:rPr>
              <a:t> Eyob Talew</a:t>
            </a:r>
            <a:r>
              <a:t>
</a:t>
            </a:r>
            <a:r>
              <a:rPr sz="1350" b="1" i="0" u="none">
                <a:solidFill>
                  <a:srgbClr val="F1F5F9"/>
                </a:solidFill>
                <a:latin typeface="Plus Jakarta Sans"/>
              </a:rPr>
              <a:t> Meeraf Mergia Diribssa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3425" y="5238750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DOMAIN &amp;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5467350"/>
            <a:ext cx="320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lus Jakarta Sans"/>
              </a:rPr>
              <a:t>Automating housing market valuation and query reasoning in Melbourne.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7225" y="5238750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DATA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225" y="5467350"/>
            <a:ext cx="320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lus Jakarta Sans"/>
              </a:rPr>
              <a:t>Kaggle Melbourne Housing Snapshot (~13.5k property records).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76925"/>
            <a:ext cx="10972800" cy="5238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76925"/>
            <a:ext cx="38100" cy="5238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9775" y="652462"/>
            <a:ext cx="1952625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362075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647950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1362075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0300" y="2647950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600200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88607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60020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886075"/>
            <a:ext cx="1333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" y="602932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Problem Clarification: Tabular models answer "How much?", but LLMs are required to answer "Why and what properties fit?".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52387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125" y="709612"/>
            <a:ext cx="1781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Plus Jakarta Sans"/>
              </a:rPr>
              <a:t>Baseline ML &amp;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95325"/>
            <a:ext cx="6750843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Interactive Streamlit 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1562100"/>
            <a:ext cx="6525815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What We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1857375"/>
            <a:ext cx="5067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Streamlit interface integrated with interactive Folium maps, geospatial clustering, and 5 regression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847975"/>
            <a:ext cx="652581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Prototype Sample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143250"/>
            <a:ext cx="5067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Input: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3 Rooms, House, Richmond, 2.5km CBD.</a:t>
            </a:r>
            <a:r>
              <a:t>
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Output: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XGBoost predicted $1,150,000 (R² = 0.78).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1562100"/>
            <a:ext cx="578167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What Worked Well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1857375"/>
            <a:ext cx="5067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Fast feature encoding, clean geographical map visualization, and strong tabular price regression.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2847975"/>
            <a:ext cx="5781675" cy="2190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Core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3143250"/>
            <a:ext cx="5067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Structured ML predicts values accurately, but users require natural text interaction to query specs.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34550" y="652462"/>
            <a:ext cx="1847850" cy="2857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19800" y="2090737"/>
            <a:ext cx="5562600" cy="2066925"/>
          </a:xfrm>
          <a:prstGeom prst="roundRect">
            <a:avLst>
              <a:gd name="adj" fmla="val 552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323975"/>
            <a:ext cx="5181600" cy="1257300"/>
          </a:xfrm>
          <a:prstGeom prst="roundRect">
            <a:avLst>
              <a:gd name="adj" fmla="val 75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714625"/>
            <a:ext cx="5181600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886200"/>
            <a:ext cx="5181600" cy="1038225"/>
          </a:xfrm>
          <a:prstGeom prst="roundRect">
            <a:avLst>
              <a:gd name="adj" fmla="val 917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3271837"/>
            <a:ext cx="51816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3271837"/>
            <a:ext cx="5181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625" y="6038850"/>
            <a:ext cx="11382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Key Takeaway: Fine-tuning modified output style effectively, but failed at memorizing exact factual database entries.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378142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7900" y="709612"/>
            <a:ext cx="1676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Plus Jakarta Sans"/>
              </a:rPr>
              <a:t>Domain Style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4838104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Fine-Tuning Qwen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2281237"/>
            <a:ext cx="5981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OUTPUT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1485900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Training Dataset &amp;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1762125"/>
            <a:ext cx="4953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Converted housing dataset rows into structured Q&amp;A prompt-completion pairs formatted with property metadata.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2876550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Fine-Tuning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152775"/>
            <a:ext cx="4953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Trained Qwen to adopt real-estate advisor syntax, outputting structured valuation summaries.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048125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Observed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324350"/>
            <a:ext cx="4953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91B1B"/>
                </a:solidFill>
                <a:latin typeface="Plus Jakarta Sans"/>
              </a:rPr>
              <a:t>High hallucination rate on precise numbers; GPU memory limits constrained full-model context training.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300" y="2566987"/>
            <a:ext cx="5981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Plus Jakarta Sans"/>
              </a:rPr>
              <a:t>Before Fine-Tuning (Base Qwen):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0300" y="2776537"/>
            <a:ext cx="5276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monospace"/>
              </a:rPr>
              <a:t>"Melbourne housing market pricing depends on many general economic factors and regional demand."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3395662"/>
            <a:ext cx="5981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C55E"/>
                </a:solidFill>
                <a:latin typeface="Plus Jakarta Sans"/>
              </a:rPr>
              <a:t>After Fine-Tuning (Custom Qwen):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300" y="3605212"/>
            <a:ext cx="5276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monospace"/>
              </a:rPr>
              <a:t>"Suburb: Richmond | Type: House | Rooms: 3 | Estimated Price Band: $1.10M–$1.22M based on regional metrics."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63175" y="652462"/>
            <a:ext cx="1419225" cy="2857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323975"/>
            <a:ext cx="3289250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51300" y="1433512"/>
            <a:ext cx="3289250" cy="971550"/>
          </a:xfrm>
          <a:prstGeom prst="roundRect">
            <a:avLst>
              <a:gd name="adj" fmla="val 98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3000" y="1323975"/>
            <a:ext cx="3289250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2705100"/>
            <a:ext cx="5391150" cy="1466850"/>
          </a:xfrm>
          <a:prstGeom prst="roundRect">
            <a:avLst>
              <a:gd name="adj" fmla="val 77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1250" y="2705100"/>
            <a:ext cx="5391150" cy="1466850"/>
          </a:xfrm>
          <a:prstGeom prst="roundRect">
            <a:avLst>
              <a:gd name="adj" fmla="val 779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350" y="18240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182403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2914650"/>
            <a:ext cx="13335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914650"/>
            <a:ext cx="1333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200" y="60483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lus Jakarta Sans"/>
              </a:rPr>
              <a:t>RAG Value Add: Provided live data retrieval without expensive model retraining.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655320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6525" y="709612"/>
            <a:ext cx="1247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Factual 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95325"/>
            <a:ext cx="8476059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Retrieval-Augmented Generation (RAG)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1485900"/>
            <a:ext cx="370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1.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1695450"/>
            <a:ext cx="30606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Melbourne property records converted to JSONL records with spatial attributes.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3225" y="1595437"/>
            <a:ext cx="370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2. Embeddings &amp; Vector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3225" y="1804987"/>
            <a:ext cx="3060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Embedded property specs stored in vector store for similarity retrieval.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4925" y="1485900"/>
            <a:ext cx="370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3. Qwen Prompting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4925" y="1695450"/>
            <a:ext cx="30606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Retrieved context injected directly into Qwen context window for final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75" y="2886075"/>
            <a:ext cx="6286500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RAG SUCCESS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575" y="3114675"/>
            <a:ext cx="512445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Query: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"Find 3-room houses in South Yarra."</a:t>
            </a:r>
            <a:r>
              <a:t>
</a:t>
            </a:r>
            <a:r>
              <a:rPr sz="1350" b="1" i="0" u="none">
                <a:solidFill>
                  <a:srgbClr val="166534"/>
                </a:solidFill>
                <a:latin typeface="Plus Jakarta Sans"/>
              </a:rPr>
              <a:t>Retrieved: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Exact 3-room entries.</a:t>
            </a:r>
            <a:r>
              <a:t>
</a:t>
            </a:r>
            <a:r>
              <a:rPr sz="1350" b="1" i="0" u="none">
                <a:solidFill>
                  <a:srgbClr val="166534"/>
                </a:solidFill>
                <a:latin typeface="Plus Jakarta Sans"/>
              </a:rPr>
              <a:t>Result: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Accurate response grounded in actual database values.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2886075"/>
            <a:ext cx="5819775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RAG LIMITATION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225" y="3114675"/>
            <a:ext cx="51244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Query:</a:t>
            </a:r>
            <a:r>
              <a:rPr sz="1350" b="0" i="0" u="none">
                <a:solidFill>
                  <a:srgbClr val="991B1B"/>
                </a:solidFill>
                <a:latin typeface="Plus Jakarta Sans"/>
              </a:rPr>
              <a:t> Out-of-distribution suburb query.</a:t>
            </a:r>
            <a:r>
              <a:t>
</a:t>
            </a:r>
            <a:r>
              <a:rPr sz="1350" b="1" i="0" u="none">
                <a:solidFill>
                  <a:srgbClr val="991B1B"/>
                </a:solidFill>
                <a:latin typeface="Plus Jakarta Sans"/>
              </a:rPr>
              <a:t>Failure:</a:t>
            </a:r>
            <a:r>
              <a:rPr sz="1350" b="0" i="0" u="none">
                <a:solidFill>
                  <a:srgbClr val="991B1B"/>
                </a:solidFill>
                <a:latin typeface="Plus Jakarta Sans"/>
              </a:rPr>
              <a:t> Low similarity scores pulled adjacent suburbs, causing soft hallucination.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0" y="652462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323975"/>
            <a:ext cx="10972800" cy="2762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323975"/>
          <a:ext cx="10963273" cy="2762250"/>
        </p:xfrm>
        <a:graphic>
          <a:graphicData uri="http://schemas.openxmlformats.org/drawingml/2006/table">
            <a:tbl>
              <a:tblPr/>
              <a:tblGrid>
                <a:gridCol w="1999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9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Base Qwen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Fine-Tuned Qwen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RAG + Qwen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Pre-trained weights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Internalized training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External vector 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Output Quality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Generic conversational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Structured real estate style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Factually grounded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Hallucinations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High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Moderate risk on numbers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Low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Updating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Requires retraining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Requires re-tuning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Instant database sync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Primary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General baseline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Formatting &amp; tone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Live knowledge retrieval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200" y="60483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Key Finding: Fine-tuning controls output style; RAG provides factual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665797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Methodology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0" y="709612"/>
            <a:ext cx="1352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Comparative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8613576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Comparing Implementation Approaches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91750" y="652462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62075"/>
            <a:ext cx="53721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581275"/>
            <a:ext cx="53721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1366837"/>
            <a:ext cx="53721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2586037"/>
            <a:ext cx="5372100" cy="1066800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625" y="6038850"/>
            <a:ext cx="11382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Key Lesson: Tabular metrics (MAE/R²) are simple to quantify; LLM retrieval quality requires curated benchmark suites.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484822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Performance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25100" y="709612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Validation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6238279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Model Evaluation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562100"/>
            <a:ext cx="6215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Regression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1790700"/>
            <a:ext cx="5067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Evaluated ML models on 20% holdout test dataset using </a:t>
            </a:r>
            <a:r>
              <a:rPr sz="1350" b="1" i="0" u="none" dirty="0">
                <a:solidFill>
                  <a:srgbClr val="334155"/>
                </a:solidFill>
                <a:latin typeface="Plus Jakarta Sans"/>
              </a:rPr>
              <a:t>MAE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350" b="1" i="0" u="none" dirty="0">
                <a:solidFill>
                  <a:srgbClr val="334155"/>
                </a:solidFill>
                <a:latin typeface="Plus Jakarta Sans"/>
              </a:rPr>
              <a:t>RMSE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, and </a:t>
            </a:r>
            <a:r>
              <a:rPr sz="1350" b="1" i="0" u="none" dirty="0">
                <a:solidFill>
                  <a:srgbClr val="334155"/>
                </a:solidFill>
                <a:latin typeface="Plus Jakarta Sans"/>
              </a:rPr>
              <a:t>R² Score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781300"/>
            <a:ext cx="6215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Best Performing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009900"/>
            <a:ext cx="506730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334155"/>
                </a:solidFill>
                <a:latin typeface="Plus Jakarta Sans"/>
              </a:rPr>
              <a:t>XGBoost</a:t>
            </a:r>
            <a:r>
              <a:rPr sz="1350" b="1" i="0" u="none" dirty="0">
                <a:solidFill>
                  <a:srgbClr val="334155"/>
                </a:solidFill>
                <a:latin typeface="Plus Jakarta Sans"/>
              </a:rPr>
              <a:t> Regressor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achieved top performance with R² ≈ 0.78 and lowest MAE.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1566862"/>
            <a:ext cx="5781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LLM Quality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1795462"/>
            <a:ext cx="5067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Answers benchmarked for factual retrieval correctness, formatting adherence, and pricing relevance.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2786062"/>
            <a:ext cx="5781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Evaluation 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014662"/>
            <a:ext cx="50673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91B1B"/>
                </a:solidFill>
                <a:latin typeface="Plus Jakarta Sans"/>
              </a:rPr>
              <a:t>Small qualitative LLM test set; lacked automated LLM-as-a-Judge automated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82250" y="652462"/>
            <a:ext cx="1200150" cy="28575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90841" y="1323975"/>
            <a:ext cx="5091558" cy="2628900"/>
          </a:xfrm>
          <a:prstGeom prst="roundRect">
            <a:avLst>
              <a:gd name="adj" fmla="val 43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1485900"/>
            <a:ext cx="5652641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2714625"/>
            <a:ext cx="5652641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341" y="1514475"/>
            <a:ext cx="4710558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866" y="1524000"/>
            <a:ext cx="4691508" cy="1123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1704975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933700"/>
            <a:ext cx="1333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200" y="60483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Governance Finding: RAG provides superior data control and privacy compliance for enterprise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452437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Compliance &amp;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709612"/>
            <a:ext cx="1028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21A8"/>
                </a:solidFill>
                <a:latin typeface="Plus Jakarta Sans"/>
              </a:rPr>
              <a:t>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5813226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Data Privacy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1341" y="2809875"/>
            <a:ext cx="551065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Fine-Tuning vs. RAG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1341" y="3105150"/>
            <a:ext cx="4805808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Plus Jakarta Sans"/>
              </a:rPr>
              <a:t>RAG allows instant data deletion at the vector store level; fine-tuning bakes records permanently into weight parameters.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1666875"/>
            <a:ext cx="6944031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Privacy &amp; PII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1943100"/>
            <a:ext cx="538594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Dataset contains public sales records; no personal owner information or private identity metrics included.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2895600"/>
            <a:ext cx="6944031" cy="2190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Licensing &amp; 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3171825"/>
            <a:ext cx="538594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Dataset governed by Kaggle Open Data terms; stored locally and processed using open-source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76525"/>
            <a:ext cx="109728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63175" y="652462"/>
            <a:ext cx="1419225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1362075"/>
            <a:ext cx="3321099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5524" y="1362075"/>
            <a:ext cx="3321099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61449" y="1362075"/>
            <a:ext cx="3321099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362075"/>
            <a:ext cx="332109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5524" y="1362075"/>
            <a:ext cx="3321099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61449" y="1362075"/>
            <a:ext cx="332109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99" y="1809750"/>
            <a:ext cx="1238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124" y="1809750"/>
            <a:ext cx="1238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914650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200" y="60483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Iterative Takeaway: Early prototypes reveal architectural boundaries faster than theoretical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605790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Iterative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96525" y="709612"/>
            <a:ext cx="1247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Process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876550"/>
            <a:ext cx="1138237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What We Would Change in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171825"/>
            <a:ext cx="1066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If restarting, we would build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RAG before Fine-Tuning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. RAG solved knowledge lookup immediately, allowing fine-tuning to be reserved strictly for output formatting.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95325"/>
            <a:ext cx="7825978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Development &amp; Milestone Reflection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590675"/>
            <a:ext cx="36751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Phase 1: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1819275"/>
            <a:ext cx="30353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Established baseline tabular models and user map interface.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024" y="1590675"/>
            <a:ext cx="36751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Phase 2: Fine-Tuning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024" y="1819275"/>
            <a:ext cx="30353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Attempted LLM memorization; improved response tone.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1949" y="1590675"/>
            <a:ext cx="36751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Phase 3: RAG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1949" y="1819275"/>
            <a:ext cx="303534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Resolved factual accuracy gaps using vector database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05500"/>
            <a:ext cx="109728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581150"/>
            <a:ext cx="3505200" cy="1381125"/>
          </a:xfrm>
          <a:prstGeom prst="roundRect">
            <a:avLst>
              <a:gd name="adj" fmla="val 8275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3400" y="1581150"/>
            <a:ext cx="3505200" cy="1381125"/>
          </a:xfrm>
          <a:prstGeom prst="roundRect">
            <a:avLst>
              <a:gd name="adj" fmla="val 8275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1581150"/>
            <a:ext cx="3505200" cy="1381125"/>
          </a:xfrm>
          <a:prstGeom prst="roundRect">
            <a:avLst>
              <a:gd name="adj" fmla="val 8275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847850"/>
            <a:ext cx="1714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847850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1847850"/>
            <a:ext cx="1333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52450"/>
            <a:ext cx="2286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SUMMARY &amp;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90575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Space Grotesk"/>
              </a:rPr>
              <a:t>Final 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05525"/>
            <a:ext cx="5024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Plus Jakarta Sans"/>
              </a:rPr>
              <a:t>Melbourne Housing Price Predictor — Mini-Project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7550" y="6105525"/>
            <a:ext cx="5124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Kiavash Montazeri | Eyob Talew | Meeraf Mergia Diribssa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1819275"/>
            <a:ext cx="3786187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WHAT WE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066925"/>
            <a:ext cx="31242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lus Jakarta Sans"/>
              </a:rPr>
              <a:t>Hybrid architectures (XGBoost for pricing + RAG for Q&amp;A) outperform single standalone LLM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1819275"/>
            <a:ext cx="3786187" cy="1714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Plus Jakarta Sans"/>
              </a:rPr>
              <a:t>WHAT SURPRISED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2066925"/>
            <a:ext cx="31242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lus Jakarta Sans"/>
              </a:rPr>
              <a:t>Fine-tuning adapted tone effectively but failed at factual database lookup without RAG grounding.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1819275"/>
            <a:ext cx="3786187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C55E"/>
                </a:solidFill>
                <a:latin typeface="Plus Jakarta Sans"/>
              </a:rPr>
              <a:t>WHAT WE WOULD DO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066925"/>
            <a:ext cx="31242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Plus Jakarta Sans"/>
              </a:rPr>
              <a:t>Implement real-time vector DB syncing and introduce LLM-as-a-Judge benchmark test 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861</Words>
  <Application>Microsoft Macintosh PowerPoint</Application>
  <PresentationFormat>Widescreen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Space Grotesk</vt:lpstr>
      <vt:lpstr>Plus Jakarta Sans</vt:lpstr>
      <vt:lpstr>monospace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Eyob Talew</cp:lastModifiedBy>
  <cp:revision>2</cp:revision>
  <dcterms:created xsi:type="dcterms:W3CDTF">2013-01-27T09:14:16Z</dcterms:created>
  <dcterms:modified xsi:type="dcterms:W3CDTF">2026-09-28T17:18:51Z</dcterms:modified>
  <cp:category/>
</cp:coreProperties>
</file>