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Space Mono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dae22857-9d1d-4541-87b9-705fe557d73b.fntdata" /><ns0:Relationship Id="rIdFont17" Type="http://schemas.openxmlformats.org/officeDocument/2006/relationships/font" Target="fonts/ca0cdf20-a991-4945-bfbd-3fa4b875c0d1.fntdata" /><ns0:Relationship Id="rIdFont18" Type="http://schemas.openxmlformats.org/officeDocument/2006/relationships/font" Target="fonts/037b9af4-e2db-46d1-82bf-0a7087f7257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70040"/>
            <a:ext cx="85725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70040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802159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AI &amp; REAL ESTATE VALUATION • GROUP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879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Housing Predictor: Fine-Tuning &amp; RAG with Qwen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17540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Evaluating Base, Fine-Tuned, and Retrieval-Augmented Qwen Models for Housing Price Prediction &amp;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646265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55815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8925" y="4646265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8925" y="4855815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3 Development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0" y="4646265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MODEL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0" y="4855815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Qwen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7575" y="4646265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7575" y="4855815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Residential Real Estate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1160"/>
            <a:ext cx="5610225" cy="253365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4625" y="2092523"/>
            <a:ext cx="5057775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3340298"/>
            <a:ext cx="5057775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4588073"/>
            <a:ext cx="5057775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125985"/>
            <a:ext cx="5057775" cy="676275"/>
          </a:xfrm>
          <a:prstGeom prst="roundRect">
            <a:avLst>
              <a:gd name="adj" fmla="val 1126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183260"/>
            <a:ext cx="5057775" cy="695325"/>
          </a:xfrm>
          <a:prstGeom prst="roundRect">
            <a:avLst>
              <a:gd name="adj" fmla="val 1095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24625" y="2092523"/>
            <a:ext cx="38100" cy="1095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4625" y="3340298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4625" y="4588073"/>
            <a:ext cx="38100" cy="10953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PHASE 1: INITIAL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Baseline Prompting &amp; 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897385"/>
            <a:ext cx="632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PROTOTYPE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278385"/>
            <a:ext cx="48482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Space Mono"/>
              </a:rPr>
              <a:t>"Predict market price: 3 beds, 2 baths, 1,800 sq ft, built in 2012, Seattle WA."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954660"/>
            <a:ext cx="632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BASE QWEN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335660"/>
            <a:ext cx="484822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91B1B"/>
                </a:solidFill>
                <a:latin typeface="Space Mono"/>
              </a:rPr>
              <a:t>"Estimated range: $600,000 - $1,200,000. Prices depend heavily on exact neighborhood features."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2321123"/>
            <a:ext cx="5400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Parametric Knowledge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597348"/>
            <a:ext cx="46577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Base Qwen lacks localized real-time pricing data and produces overly wide, non-actionable price ranges.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3568898"/>
            <a:ext cx="5400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Formatting Unreliability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845123"/>
            <a:ext cx="46577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Zero-shot prompting yields unformatted conversational prose rather than structured JSON predictions.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25" y="4816673"/>
            <a:ext cx="5400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Problem Recalibration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5092898"/>
            <a:ext cx="46577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Clarified that price estimation requires exact comparable retrieval alongside structured text 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54710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116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2116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2116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64046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73573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287357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873573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PHASE 2: FINE-TUNING QWEN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Supervised Fine-Tuning &amp; Behavioral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4554735"/>
            <a:ext cx="10426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Fine-Tuning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675" y="4773810"/>
            <a:ext cx="992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Fine-tuning successfully taught output syntax and domain formatting, but failed to inject fresh dynamic pricing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2859285"/>
            <a:ext cx="183772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19266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Source: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1,200 residential sale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4983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Format: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JSONL instruction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70701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Cleaning: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Normalised attributes &amp; 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275" y="2859285"/>
            <a:ext cx="20502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Fine-Tuning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19266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Model: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Qwen Architecture (LoRA)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44983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Objective: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Enforce strict JSON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370701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Target: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Feature weight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1075" y="2859285"/>
            <a:ext cx="251281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Output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19266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Before: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Loose prose responses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449835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After: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Valid structured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3707010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Limitation: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Numerical overfitting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5435"/>
            <a:ext cx="1097280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68985"/>
            <a:ext cx="5372100" cy="971550"/>
          </a:xfrm>
          <a:prstGeom prst="roundRect">
            <a:avLst>
              <a:gd name="adj" fmla="val 980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4268985"/>
            <a:ext cx="5372100" cy="971550"/>
          </a:xfrm>
          <a:prstGeom prst="roundRect">
            <a:avLst>
              <a:gd name="adj" fmla="val 980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097410"/>
            <a:ext cx="165735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3262" y="3097410"/>
            <a:ext cx="154305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24500" y="3097410"/>
            <a:ext cx="144780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10487" y="3097410"/>
            <a:ext cx="1419225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67900" y="3106935"/>
            <a:ext cx="1476375" cy="6858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968" y="336411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206" y="3364110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93" y="336411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606" y="3364110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3259335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325933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259335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325933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0362" y="325933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497585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497585"/>
            <a:ext cx="13335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PHASE 3: RETRIEVAL-AUGMENTED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RAG Architecture &amp; Retrieval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773560"/>
            <a:ext cx="11344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RETRIEVAL PIPELINE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469010"/>
            <a:ext cx="6215062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RAG Success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697610"/>
            <a:ext cx="506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Plus Jakarta Sans"/>
              </a:rPr>
              <a:t>Retrieved 3 exact recent local sales. Qwen synthesized accurate baseline valuation ($635,000) with local comps.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469010"/>
            <a:ext cx="5781675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Plus Jakarta Sans"/>
              </a:rPr>
              <a:t>RAG Failure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4697610"/>
            <a:ext cx="506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91C1C"/>
                </a:solidFill>
                <a:latin typeface="Plus Jakarta Sans"/>
              </a:rPr>
              <a:t>Outlier property query retrieved poorly matched neighborhood comps, leading Qwen to over-index on bad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775" y="3487935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JSONL Housing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600" y="3487935"/>
            <a:ext cx="1476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Embedding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2600" y="3487935"/>
            <a:ext cx="1371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Vector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8587" y="3487935"/>
            <a:ext cx="1343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Qwen +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6475" y="3487935"/>
            <a:ext cx="1419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Grounded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49998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02098"/>
          <a:ext cx="10972797" cy="1981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51421"/>
                <a:gridCol w="2226319"/>
                <a:gridCol w="1828800"/>
                <a:gridCol w="2101304"/>
                <a:gridCol w="2964953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Format 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Factual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Freshness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Limitation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Base Qwen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Low (Freeform)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Low (Generic)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Static Training Cutoff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High hallucination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Fine-Tuned Qwen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High (Strict JSON)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Static Dataset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Overfitting on training zip codes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RAG + Qwen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High (Prompt-Guided)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High (Grounded)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Dynamic Real-Time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Dependent on retrieval quality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METHODOLOGY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Base Qwen vs. Fine-Tuned Qwen vs. RAG + Qwen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921448"/>
            <a:ext cx="11353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Key Takeaway: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Fine-tuning excels at enforcing response structure, while RAG is mandatory for accurate, up-to-date housing market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11835"/>
            <a:ext cx="109728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973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2973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2973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Quantitative Performance &amp;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449960"/>
            <a:ext cx="11344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Observed Model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31" y="2573535"/>
            <a:ext cx="3690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2563EB"/>
                </a:solidFill>
                <a:latin typeface="Plus Jakarta Sans"/>
              </a:rPr>
              <a:t>-38%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31" y="3221235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Valuation Error (MAE)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345936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RAG + Fine-Tuned vs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31" y="2573535"/>
            <a:ext cx="3690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16A34A"/>
                </a:solidFill>
                <a:latin typeface="Plus Jakarta Sans"/>
              </a:rP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1" y="3221235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JSON Format 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0531" y="345936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Fine-Tuned Output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4331" y="2573535"/>
            <a:ext cx="3690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Plus Jakarta Sans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4331" y="3221235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Hallucination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345936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Down from 42% on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783335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783335"/>
            <a:ext cx="111537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Small Dataset Sensitivity: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Fine-tuning overfitted on rare zip codes due to limited training samples.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011935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5011935"/>
            <a:ext cx="111537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Retrieval Noise: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Non-standard luxury features caused vector store retrieval of irrelevant comparables.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8323"/>
            <a:ext cx="5334000" cy="2219325"/>
          </a:xfrm>
          <a:prstGeom prst="roundRect">
            <a:avLst>
              <a:gd name="adj" fmla="val 51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78323"/>
            <a:ext cx="5334000" cy="2219325"/>
          </a:xfrm>
          <a:prstGeom prst="roundRect">
            <a:avLst>
              <a:gd name="adj" fmla="val 51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78360"/>
            <a:ext cx="23812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78360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COMPLIANCE &amp;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 Privacy, Governance &amp; AI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054548"/>
            <a:ext cx="592574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Privacy &amp; Licensing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054548"/>
            <a:ext cx="54006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Fine-Tuning vs. RAG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445073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Anonymization: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Stripped exact street addresses and owner PII.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40348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Licensing: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Open-access dataset restricted to non-commercial research.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216598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Data Access: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Strictly local storage with zero external cloud API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445073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Plus Jakarta Sans"/>
              </a:rPr>
              <a:t>Fine-Tuning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664148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Data becomes baked into weights; impossible to selectively redact (GDPR compliance barrier).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159448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Plus Jakarta Sans"/>
              </a:rPr>
              <a:t>RAG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378523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Granular permission management and instant record deletion directly in the vector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54685"/>
            <a:ext cx="10972800" cy="1076325"/>
          </a:xfrm>
          <a:prstGeom prst="roundRect">
            <a:avLst>
              <a:gd name="adj" fmla="val 10619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496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4496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4496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154685"/>
            <a:ext cx="57150" cy="10763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PROCESS REFLECTION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Milestone Development &amp; Iterative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383285"/>
            <a:ext cx="11296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If We Started Again: Sequence Re-ordering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640460"/>
            <a:ext cx="10553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We would implement RAG prior to fine-tuning. Building retrieval first establishes factual accuracy early, allowing fine-tuning to focus solely on optimizing response formatting and tone over retrieved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8308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MILESTONE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01168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06960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Exposed core model baseline limitations and highlighted data gap 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278308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MILESTONE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01168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306960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Solved formatting constraints but revealed limits of static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78308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MILESTONE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011685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RAG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306960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Provided factual real-time context needed for dynamic market pricing.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2281"/>
            <a:ext cx="3479750" cy="1890712"/>
          </a:xfrm>
          <a:prstGeom prst="roundRect">
            <a:avLst>
              <a:gd name="adj" fmla="val 60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12281"/>
            <a:ext cx="3479750" cy="1890712"/>
          </a:xfrm>
          <a:prstGeom prst="roundRect">
            <a:avLst>
              <a:gd name="adj" fmla="val 60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012281"/>
            <a:ext cx="3479750" cy="1890712"/>
          </a:xfrm>
          <a:prstGeom prst="roundRect">
            <a:avLst>
              <a:gd name="adj" fmla="val 60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26606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326606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326606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955006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FINAL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40756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Takeaways &amp;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88556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1. Technical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83831"/>
            <a:ext cx="3022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Fine-tuning alters output behavior and format, whereas RAG supplies actual factual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688556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2. Key Surprise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983831"/>
            <a:ext cx="3022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Base Qwen paired with a clean RAG context outperformed the fine-tuned standalone model on pricing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688556"/>
            <a:ext cx="38132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3.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3983831"/>
            <a:ext cx="3022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Build an independent evaluation benchmark and test hybrid fine-tuned Qwen with dense vector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